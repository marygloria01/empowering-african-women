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1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5486400" cy="5486400"/>
          </a:xfrm>
          <a:prstGeom prst="ellipse">
            <a:avLst/>
          </a:prstGeom>
          <a:solidFill>
            <a:srgbClr val="D4845A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2286000"/>
            <a:ext cx="3657600" cy="3657600"/>
          </a:xfrm>
          <a:prstGeom prst="ellipse">
            <a:avLst/>
          </a:prstGeom>
          <a:solidFill>
            <a:srgbClr val="E8D5C4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D4845A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77724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GETTING STARTED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594360" y="173736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8D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Kitchen Essentials for Baking &amp; Cooking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94360" y="2395728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8B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beginner's guide to essential kitchen tools — what they are, how to use them, and why you need them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94360" y="3291840"/>
            <a:ext cx="1005840" cy="914400"/>
          </a:xfrm>
          <a:prstGeom prst="rect">
            <a:avLst/>
          </a:prstGeom>
          <a:solidFill>
            <a:srgbClr val="D4845A">
              <a:alpha val="3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3310128"/>
            <a:ext cx="1005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🔪</a:t>
            </a:r>
            <a:endParaRPr lang="en-US" sz="3200" dirty="0"/>
          </a:p>
        </p:txBody>
      </p:sp>
      <p:sp>
        <p:nvSpPr>
          <p:cNvPr id="10" name="Shape 8"/>
          <p:cNvSpPr/>
          <p:nvPr/>
        </p:nvSpPr>
        <p:spPr>
          <a:xfrm>
            <a:off x="1965960" y="3291840"/>
            <a:ext cx="1005840" cy="914400"/>
          </a:xfrm>
          <a:prstGeom prst="rect">
            <a:avLst/>
          </a:prstGeom>
          <a:solidFill>
            <a:srgbClr val="D4845A">
              <a:alpha val="3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1965960" y="3310128"/>
            <a:ext cx="1005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🥣</a:t>
            </a:r>
            <a:endParaRPr lang="en-US" sz="3200" dirty="0"/>
          </a:p>
        </p:txBody>
      </p:sp>
      <p:sp>
        <p:nvSpPr>
          <p:cNvPr id="12" name="Shape 10"/>
          <p:cNvSpPr/>
          <p:nvPr/>
        </p:nvSpPr>
        <p:spPr>
          <a:xfrm>
            <a:off x="3337560" y="3291840"/>
            <a:ext cx="1005840" cy="914400"/>
          </a:xfrm>
          <a:prstGeom prst="rect">
            <a:avLst/>
          </a:prstGeom>
          <a:solidFill>
            <a:srgbClr val="D4845A">
              <a:alpha val="3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3337560" y="3310128"/>
            <a:ext cx="1005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⚖️</a:t>
            </a:r>
            <a:endParaRPr lang="en-US" sz="3200" dirty="0"/>
          </a:p>
        </p:txBody>
      </p:sp>
      <p:sp>
        <p:nvSpPr>
          <p:cNvPr id="14" name="Shape 12"/>
          <p:cNvSpPr/>
          <p:nvPr/>
        </p:nvSpPr>
        <p:spPr>
          <a:xfrm>
            <a:off x="4709160" y="3291840"/>
            <a:ext cx="1005840" cy="914400"/>
          </a:xfrm>
          <a:prstGeom prst="rect">
            <a:avLst/>
          </a:prstGeom>
          <a:solidFill>
            <a:srgbClr val="D4845A">
              <a:alpha val="3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4709160" y="3310128"/>
            <a:ext cx="1005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🥄</a:t>
            </a:r>
            <a:endParaRPr lang="en-US" sz="3200" dirty="0"/>
          </a:p>
        </p:txBody>
      </p:sp>
      <p:sp>
        <p:nvSpPr>
          <p:cNvPr id="16" name="Shape 14"/>
          <p:cNvSpPr/>
          <p:nvPr/>
        </p:nvSpPr>
        <p:spPr>
          <a:xfrm>
            <a:off x="6080760" y="3291840"/>
            <a:ext cx="1005840" cy="914400"/>
          </a:xfrm>
          <a:prstGeom prst="rect">
            <a:avLst/>
          </a:prstGeom>
          <a:solidFill>
            <a:srgbClr val="D4845A">
              <a:alpha val="3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6080760" y="3310128"/>
            <a:ext cx="1005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🧅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594360" y="47548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EAW Baking &amp; Cooking Essentials · Instructor: Ebere Irrechukwu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2C181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I CHOSE TO LEARN BAKING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502920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91440" cy="3749040"/>
          </a:xfrm>
          <a:prstGeom prst="rect">
            <a:avLst/>
          </a:prstGeom>
          <a:solidFill>
            <a:srgbClr val="D4845A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280160"/>
            <a:ext cx="461772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Story Behind This Course</a:t>
            </a:r>
            <a:endParaRPr lang="en-US" sz="1600" dirty="0"/>
          </a:p>
          <a:p>
            <a:pPr indent="0" marL="0">
              <a:buNone/>
            </a:pPr>
            <a:r>
              <a:rPr lang="en-US" sz="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4A2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 child, I enjoyed watching my mother bake bread, cake and pastries during Christmas and special occasions. The aroma filled the house and the taste was unforgettable.</a:t>
            </a:r>
            <a:endParaRPr lang="en-US" sz="16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4A2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love for baking never left me. Now I want to pass it on — teaching you not just the recipes, but the skills and confidence to cook and bake from scratch, even if you have never done it before.</a:t>
            </a:r>
            <a:endParaRPr lang="en-US" sz="16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600" dirty="0"/>
          </a:p>
          <a:p>
            <a:pPr indent="0" marL="0">
              <a:buNone/>
            </a:pPr>
            <a:r>
              <a:rPr lang="en-US" sz="1250" i="1" dirty="0">
                <a:solidFill>
                  <a:srgbClr val="8B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this course, you will know your tools, understand techniques, and be able to prepare a variety of Nigerian and international dishes and baked goods with ease.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715000" y="1097280"/>
            <a:ext cx="2971800" cy="3749040"/>
          </a:xfrm>
          <a:prstGeom prst="rect">
            <a:avLst/>
          </a:prstGeom>
          <a:solidFill>
            <a:srgbClr val="D4845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715000" y="123444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00000"/>
                </a:solidFill>
              </a:rPr>
              <a:t>🎯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5806440" y="224028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You Will Learn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806440" y="2761488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D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Your kitchen tools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806440" y="3081528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D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How each tool works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806440" y="3401568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D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Safe food preparation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806440" y="3721608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D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Confidence to cook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C181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5943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🔪  The Chef Knife — How to Use It Safely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492240" y="164592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i="1" dirty="0">
                <a:solidFill>
                  <a:srgbClr val="E8D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Most-used kitchen tool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8503920" cy="42862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384048" y="1115568"/>
            <a:ext cx="320040" cy="320040"/>
          </a:xfrm>
          <a:prstGeom prst="ellipse">
            <a:avLst/>
          </a:prstGeom>
          <a:solidFill>
            <a:srgbClr val="D4845A"/>
          </a:solidFill>
          <a:ln/>
        </p:spPr>
      </p:sp>
      <p:sp>
        <p:nvSpPr>
          <p:cNvPr id="7" name="Text 5"/>
          <p:cNvSpPr/>
          <p:nvPr/>
        </p:nvSpPr>
        <p:spPr>
          <a:xfrm>
            <a:off x="384048" y="111556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1088136"/>
            <a:ext cx="7863840" cy="382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2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a knife that feels comfortable and balanced in your hand — not too heavy.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" y="1525905"/>
            <a:ext cx="8503920" cy="428625"/>
          </a:xfrm>
          <a:prstGeom prst="rect">
            <a:avLst/>
          </a:prstGeom>
          <a:solidFill>
            <a:srgbClr val="FAF3EE"/>
          </a:solidFill>
          <a:ln/>
        </p:spPr>
      </p:sp>
      <p:sp>
        <p:nvSpPr>
          <p:cNvPr id="10" name="Shape 8"/>
          <p:cNvSpPr/>
          <p:nvPr/>
        </p:nvSpPr>
        <p:spPr>
          <a:xfrm>
            <a:off x="384048" y="1589913"/>
            <a:ext cx="320040" cy="320040"/>
          </a:xfrm>
          <a:prstGeom prst="ellipse">
            <a:avLst/>
          </a:prstGeom>
          <a:solidFill>
            <a:srgbClr val="D4845A"/>
          </a:solidFill>
          <a:ln/>
        </p:spPr>
      </p:sp>
      <p:sp>
        <p:nvSpPr>
          <p:cNvPr id="11" name="Text 9"/>
          <p:cNvSpPr/>
          <p:nvPr/>
        </p:nvSpPr>
        <p:spPr>
          <a:xfrm>
            <a:off x="384048" y="1589913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1562481"/>
            <a:ext cx="7863840" cy="382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2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use, place your cutting board on a flat, stable surface. Put a damp cloth underneath to stop it sliding.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0040" y="2000250"/>
            <a:ext cx="8503920" cy="42862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384048" y="2064258"/>
            <a:ext cx="320040" cy="320040"/>
          </a:xfrm>
          <a:prstGeom prst="ellipse">
            <a:avLst/>
          </a:prstGeom>
          <a:solidFill>
            <a:srgbClr val="D4845A"/>
          </a:solidFill>
          <a:ln/>
        </p:spPr>
      </p:sp>
      <p:sp>
        <p:nvSpPr>
          <p:cNvPr id="15" name="Text 13"/>
          <p:cNvSpPr/>
          <p:nvPr/>
        </p:nvSpPr>
        <p:spPr>
          <a:xfrm>
            <a:off x="384048" y="206425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22960" y="2036826"/>
            <a:ext cx="7863840" cy="382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2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the knife handle firmly with all four fingers wrapped around it. Your thumb rests on the side of the blade near the handle for control.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0040" y="2474595"/>
            <a:ext cx="8503920" cy="428625"/>
          </a:xfrm>
          <a:prstGeom prst="rect">
            <a:avLst/>
          </a:prstGeom>
          <a:solidFill>
            <a:srgbClr val="FAF3EE"/>
          </a:solidFill>
          <a:ln/>
        </p:spPr>
      </p:sp>
      <p:sp>
        <p:nvSpPr>
          <p:cNvPr id="18" name="Shape 16"/>
          <p:cNvSpPr/>
          <p:nvPr/>
        </p:nvSpPr>
        <p:spPr>
          <a:xfrm>
            <a:off x="384048" y="2538603"/>
            <a:ext cx="320040" cy="320040"/>
          </a:xfrm>
          <a:prstGeom prst="ellipse">
            <a:avLst/>
          </a:prstGeom>
          <a:solidFill>
            <a:srgbClr val="D4845A"/>
          </a:solidFill>
          <a:ln/>
        </p:spPr>
      </p:sp>
      <p:sp>
        <p:nvSpPr>
          <p:cNvPr id="19" name="Text 17"/>
          <p:cNvSpPr/>
          <p:nvPr/>
        </p:nvSpPr>
        <p:spPr>
          <a:xfrm>
            <a:off x="384048" y="2538603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22960" y="2511171"/>
            <a:ext cx="7863840" cy="382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2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Curl the fingertips of your other hand inward ('claw grip') so knuckles guide the blade — this protects your fingers from accidental cuts.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20040" y="2948940"/>
            <a:ext cx="8503920" cy="42862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Shape 20"/>
          <p:cNvSpPr/>
          <p:nvPr/>
        </p:nvSpPr>
        <p:spPr>
          <a:xfrm>
            <a:off x="384048" y="3012948"/>
            <a:ext cx="320040" cy="320040"/>
          </a:xfrm>
          <a:prstGeom prst="ellipse">
            <a:avLst/>
          </a:prstGeom>
          <a:solidFill>
            <a:srgbClr val="D4845A"/>
          </a:solidFill>
          <a:ln/>
        </p:spPr>
      </p:sp>
      <p:sp>
        <p:nvSpPr>
          <p:cNvPr id="23" name="Text 21"/>
          <p:cNvSpPr/>
          <p:nvPr/>
        </p:nvSpPr>
        <p:spPr>
          <a:xfrm>
            <a:off x="384048" y="301294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22960" y="2985516"/>
            <a:ext cx="7863840" cy="382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2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rocking motion: keep the tip of the knife on the board and rock the heel up and down while moving forward through the food.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20040" y="3423285"/>
            <a:ext cx="8503920" cy="428625"/>
          </a:xfrm>
          <a:prstGeom prst="rect">
            <a:avLst/>
          </a:prstGeom>
          <a:solidFill>
            <a:srgbClr val="FAF3EE"/>
          </a:solidFill>
          <a:ln/>
        </p:spPr>
      </p:sp>
      <p:sp>
        <p:nvSpPr>
          <p:cNvPr id="26" name="Shape 24"/>
          <p:cNvSpPr/>
          <p:nvPr/>
        </p:nvSpPr>
        <p:spPr>
          <a:xfrm>
            <a:off x="384048" y="3487293"/>
            <a:ext cx="320040" cy="320040"/>
          </a:xfrm>
          <a:prstGeom prst="ellipse">
            <a:avLst/>
          </a:prstGeom>
          <a:solidFill>
            <a:srgbClr val="D4845A"/>
          </a:solidFill>
          <a:ln/>
        </p:spPr>
      </p:sp>
      <p:sp>
        <p:nvSpPr>
          <p:cNvPr id="27" name="Text 25"/>
          <p:cNvSpPr/>
          <p:nvPr/>
        </p:nvSpPr>
        <p:spPr>
          <a:xfrm>
            <a:off x="384048" y="3487293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6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22960" y="3459861"/>
            <a:ext cx="7863840" cy="382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2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cut away from your body, never towards yourself.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20040" y="3897630"/>
            <a:ext cx="8503920" cy="42862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Shape 28"/>
          <p:cNvSpPr/>
          <p:nvPr/>
        </p:nvSpPr>
        <p:spPr>
          <a:xfrm>
            <a:off x="384048" y="3961638"/>
            <a:ext cx="320040" cy="320040"/>
          </a:xfrm>
          <a:prstGeom prst="ellipse">
            <a:avLst/>
          </a:prstGeom>
          <a:solidFill>
            <a:srgbClr val="D4845A"/>
          </a:solidFill>
          <a:ln/>
        </p:spPr>
      </p:sp>
      <p:sp>
        <p:nvSpPr>
          <p:cNvPr id="31" name="Text 29"/>
          <p:cNvSpPr/>
          <p:nvPr/>
        </p:nvSpPr>
        <p:spPr>
          <a:xfrm>
            <a:off x="384048" y="396163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7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22960" y="3934206"/>
            <a:ext cx="7863840" cy="382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2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use, wash and dry the knife immediately — never leave it in a sink of water where it is a hidden hazard.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320040" y="4371975"/>
            <a:ext cx="8503920" cy="428625"/>
          </a:xfrm>
          <a:prstGeom prst="rect">
            <a:avLst/>
          </a:prstGeom>
          <a:solidFill>
            <a:srgbClr val="FAF3EE"/>
          </a:solidFill>
          <a:ln/>
        </p:spPr>
      </p:sp>
      <p:sp>
        <p:nvSpPr>
          <p:cNvPr id="34" name="Shape 32"/>
          <p:cNvSpPr/>
          <p:nvPr/>
        </p:nvSpPr>
        <p:spPr>
          <a:xfrm>
            <a:off x="384048" y="4435983"/>
            <a:ext cx="320040" cy="320040"/>
          </a:xfrm>
          <a:prstGeom prst="ellipse">
            <a:avLst/>
          </a:prstGeom>
          <a:solidFill>
            <a:srgbClr val="D4845A"/>
          </a:solidFill>
          <a:ln/>
        </p:spPr>
      </p:sp>
      <p:sp>
        <p:nvSpPr>
          <p:cNvPr id="35" name="Text 33"/>
          <p:cNvSpPr/>
          <p:nvPr/>
        </p:nvSpPr>
        <p:spPr>
          <a:xfrm>
            <a:off x="384048" y="4435983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8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22960" y="4408551"/>
            <a:ext cx="7863840" cy="382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2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the knife in a knife block or with a blade guard — never loose in a drawer.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320040" y="4846320"/>
            <a:ext cx="8503920" cy="256032"/>
          </a:xfrm>
          <a:prstGeom prst="rect">
            <a:avLst/>
          </a:prstGeom>
          <a:solidFill>
            <a:srgbClr val="D4845A">
              <a:alpha val="70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457200" y="4864608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A sharp knife is actually safer than a dull one — it requires less force and is less likely to slip.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C181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5943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🪵  The Cutting Board — Your Safe Cutting Surface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492240" y="164592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i="1" dirty="0">
                <a:solidFill>
                  <a:srgbClr val="E8D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Protects countertops &amp; food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8503920" cy="42862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384048" y="1115568"/>
            <a:ext cx="320040" cy="320040"/>
          </a:xfrm>
          <a:prstGeom prst="ellipse">
            <a:avLst/>
          </a:prstGeom>
          <a:solidFill>
            <a:srgbClr val="6B7F6A"/>
          </a:solidFill>
          <a:ln/>
        </p:spPr>
      </p:sp>
      <p:sp>
        <p:nvSpPr>
          <p:cNvPr id="7" name="Text 5"/>
          <p:cNvSpPr/>
          <p:nvPr/>
        </p:nvSpPr>
        <p:spPr>
          <a:xfrm>
            <a:off x="384048" y="111556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1088136"/>
            <a:ext cx="7863840" cy="382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2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a wooden or thick plastic board — both work. Wood is gentle on knives; plastic is easier to sanitise.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" y="1525905"/>
            <a:ext cx="8503920" cy="428625"/>
          </a:xfrm>
          <a:prstGeom prst="rect">
            <a:avLst/>
          </a:prstGeom>
          <a:solidFill>
            <a:srgbClr val="FAF3EE"/>
          </a:solidFill>
          <a:ln/>
        </p:spPr>
      </p:sp>
      <p:sp>
        <p:nvSpPr>
          <p:cNvPr id="10" name="Shape 8"/>
          <p:cNvSpPr/>
          <p:nvPr/>
        </p:nvSpPr>
        <p:spPr>
          <a:xfrm>
            <a:off x="384048" y="1589913"/>
            <a:ext cx="320040" cy="320040"/>
          </a:xfrm>
          <a:prstGeom prst="ellipse">
            <a:avLst/>
          </a:prstGeom>
          <a:solidFill>
            <a:srgbClr val="6B7F6A"/>
          </a:solidFill>
          <a:ln/>
        </p:spPr>
      </p:sp>
      <p:sp>
        <p:nvSpPr>
          <p:cNvPr id="11" name="Text 9"/>
          <p:cNvSpPr/>
          <p:nvPr/>
        </p:nvSpPr>
        <p:spPr>
          <a:xfrm>
            <a:off x="384048" y="1589913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1562481"/>
            <a:ext cx="7863840" cy="382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2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cutting, place the board on a flat counter and put a damp kitchen towel or cloth underneath it to prevent it from sliding while you cut.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0040" y="2000250"/>
            <a:ext cx="8503920" cy="42862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384048" y="2064258"/>
            <a:ext cx="320040" cy="320040"/>
          </a:xfrm>
          <a:prstGeom prst="ellipse">
            <a:avLst/>
          </a:prstGeom>
          <a:solidFill>
            <a:srgbClr val="6B7F6A"/>
          </a:solidFill>
          <a:ln/>
        </p:spPr>
      </p:sp>
      <p:sp>
        <p:nvSpPr>
          <p:cNvPr id="15" name="Text 13"/>
          <p:cNvSpPr/>
          <p:nvPr/>
        </p:nvSpPr>
        <p:spPr>
          <a:xfrm>
            <a:off x="384048" y="206425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22960" y="2036826"/>
            <a:ext cx="7863840" cy="382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2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separate boards if possible — one for raw meat/fish and another for vegetables and fruit — to avoid cross-contamination.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0040" y="2474595"/>
            <a:ext cx="8503920" cy="428625"/>
          </a:xfrm>
          <a:prstGeom prst="rect">
            <a:avLst/>
          </a:prstGeom>
          <a:solidFill>
            <a:srgbClr val="FAF3EE"/>
          </a:solidFill>
          <a:ln/>
        </p:spPr>
      </p:sp>
      <p:sp>
        <p:nvSpPr>
          <p:cNvPr id="18" name="Shape 16"/>
          <p:cNvSpPr/>
          <p:nvPr/>
        </p:nvSpPr>
        <p:spPr>
          <a:xfrm>
            <a:off x="384048" y="2538603"/>
            <a:ext cx="320040" cy="320040"/>
          </a:xfrm>
          <a:prstGeom prst="ellipse">
            <a:avLst/>
          </a:prstGeom>
          <a:solidFill>
            <a:srgbClr val="6B7F6A"/>
          </a:solidFill>
          <a:ln/>
        </p:spPr>
      </p:sp>
      <p:sp>
        <p:nvSpPr>
          <p:cNvPr id="19" name="Text 17"/>
          <p:cNvSpPr/>
          <p:nvPr/>
        </p:nvSpPr>
        <p:spPr>
          <a:xfrm>
            <a:off x="384048" y="2538603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22960" y="2511171"/>
            <a:ext cx="7863840" cy="382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2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cutting vegetables like onions, peppers or tomatoes, place them flat side down after the first cut to give them a stable base.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20040" y="2948940"/>
            <a:ext cx="8503920" cy="42862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Shape 20"/>
          <p:cNvSpPr/>
          <p:nvPr/>
        </p:nvSpPr>
        <p:spPr>
          <a:xfrm>
            <a:off x="384048" y="3012948"/>
            <a:ext cx="320040" cy="320040"/>
          </a:xfrm>
          <a:prstGeom prst="ellipse">
            <a:avLst/>
          </a:prstGeom>
          <a:solidFill>
            <a:srgbClr val="6B7F6A"/>
          </a:solidFill>
          <a:ln/>
        </p:spPr>
      </p:sp>
      <p:sp>
        <p:nvSpPr>
          <p:cNvPr id="23" name="Text 21"/>
          <p:cNvSpPr/>
          <p:nvPr/>
        </p:nvSpPr>
        <p:spPr>
          <a:xfrm>
            <a:off x="384048" y="301294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22960" y="2985516"/>
            <a:ext cx="7863840" cy="382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2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cutting yam or plantain, cut off both ends first, then place it flat on the board before slicing.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20040" y="3423285"/>
            <a:ext cx="8503920" cy="428625"/>
          </a:xfrm>
          <a:prstGeom prst="rect">
            <a:avLst/>
          </a:prstGeom>
          <a:solidFill>
            <a:srgbClr val="FAF3EE"/>
          </a:solidFill>
          <a:ln/>
        </p:spPr>
      </p:sp>
      <p:sp>
        <p:nvSpPr>
          <p:cNvPr id="26" name="Shape 24"/>
          <p:cNvSpPr/>
          <p:nvPr/>
        </p:nvSpPr>
        <p:spPr>
          <a:xfrm>
            <a:off x="384048" y="3487293"/>
            <a:ext cx="320040" cy="320040"/>
          </a:xfrm>
          <a:prstGeom prst="ellipse">
            <a:avLst/>
          </a:prstGeom>
          <a:solidFill>
            <a:srgbClr val="6B7F6A"/>
          </a:solidFill>
          <a:ln/>
        </p:spPr>
      </p:sp>
      <p:sp>
        <p:nvSpPr>
          <p:cNvPr id="27" name="Text 25"/>
          <p:cNvSpPr/>
          <p:nvPr/>
        </p:nvSpPr>
        <p:spPr>
          <a:xfrm>
            <a:off x="384048" y="3487293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6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22960" y="3459861"/>
            <a:ext cx="7863840" cy="382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2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each use, wash the board thoroughly with hot soapy water on both sides. Rinse well.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20040" y="3897630"/>
            <a:ext cx="8503920" cy="42862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Shape 28"/>
          <p:cNvSpPr/>
          <p:nvPr/>
        </p:nvSpPr>
        <p:spPr>
          <a:xfrm>
            <a:off x="384048" y="3961638"/>
            <a:ext cx="320040" cy="320040"/>
          </a:xfrm>
          <a:prstGeom prst="ellipse">
            <a:avLst/>
          </a:prstGeom>
          <a:solidFill>
            <a:srgbClr val="6B7F6A"/>
          </a:solidFill>
          <a:ln/>
        </p:spPr>
      </p:sp>
      <p:sp>
        <p:nvSpPr>
          <p:cNvPr id="31" name="Text 29"/>
          <p:cNvSpPr/>
          <p:nvPr/>
        </p:nvSpPr>
        <p:spPr>
          <a:xfrm>
            <a:off x="384048" y="396163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7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22960" y="3934206"/>
            <a:ext cx="7863840" cy="382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2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 the board to air-dry standing upright — do not lay it flat wet as this encourages mould.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320040" y="4371975"/>
            <a:ext cx="8503920" cy="428625"/>
          </a:xfrm>
          <a:prstGeom prst="rect">
            <a:avLst/>
          </a:prstGeom>
          <a:solidFill>
            <a:srgbClr val="FAF3EE"/>
          </a:solidFill>
          <a:ln/>
        </p:spPr>
      </p:sp>
      <p:sp>
        <p:nvSpPr>
          <p:cNvPr id="34" name="Shape 32"/>
          <p:cNvSpPr/>
          <p:nvPr/>
        </p:nvSpPr>
        <p:spPr>
          <a:xfrm>
            <a:off x="384048" y="4435983"/>
            <a:ext cx="320040" cy="320040"/>
          </a:xfrm>
          <a:prstGeom prst="ellipse">
            <a:avLst/>
          </a:prstGeom>
          <a:solidFill>
            <a:srgbClr val="6B7F6A"/>
          </a:solidFill>
          <a:ln/>
        </p:spPr>
      </p:sp>
      <p:sp>
        <p:nvSpPr>
          <p:cNvPr id="35" name="Text 33"/>
          <p:cNvSpPr/>
          <p:nvPr/>
        </p:nvSpPr>
        <p:spPr>
          <a:xfrm>
            <a:off x="384048" y="4435983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8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22960" y="4408551"/>
            <a:ext cx="7863840" cy="382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2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Periodically rub a wooden board with a little vegetable oil to keep it from cracking.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320040" y="4846320"/>
            <a:ext cx="8503920" cy="256032"/>
          </a:xfrm>
          <a:prstGeom prst="rect">
            <a:avLst/>
          </a:prstGeom>
          <a:solidFill>
            <a:srgbClr val="6B7F6A">
              <a:alpha val="70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457200" y="4864608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Never cut directly on your countertop or plate — the board protects both your surface and your knife blade.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C181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5943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🥫  The Can Opener — Opening Canned Foods Safely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492240" y="164592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i="1" dirty="0">
                <a:solidFill>
                  <a:srgbClr val="E8D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access to preserved foods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8503920" cy="42862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384048" y="1115568"/>
            <a:ext cx="320040" cy="320040"/>
          </a:xfrm>
          <a:prstGeom prst="ellipse">
            <a:avLst/>
          </a:prstGeom>
          <a:solidFill>
            <a:srgbClr val="D4845A"/>
          </a:solidFill>
          <a:ln/>
        </p:spPr>
      </p:sp>
      <p:sp>
        <p:nvSpPr>
          <p:cNvPr id="7" name="Text 5"/>
          <p:cNvSpPr/>
          <p:nvPr/>
        </p:nvSpPr>
        <p:spPr>
          <a:xfrm>
            <a:off x="384048" y="111556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1088136"/>
            <a:ext cx="7863840" cy="382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2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the can first — if it is bulging, dented severely or rusty, do not open or use it. Discard it.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" y="1525905"/>
            <a:ext cx="8503920" cy="428625"/>
          </a:xfrm>
          <a:prstGeom prst="rect">
            <a:avLst/>
          </a:prstGeom>
          <a:solidFill>
            <a:srgbClr val="FAF3EE"/>
          </a:solidFill>
          <a:ln/>
        </p:spPr>
      </p:sp>
      <p:sp>
        <p:nvSpPr>
          <p:cNvPr id="10" name="Shape 8"/>
          <p:cNvSpPr/>
          <p:nvPr/>
        </p:nvSpPr>
        <p:spPr>
          <a:xfrm>
            <a:off x="384048" y="1589913"/>
            <a:ext cx="320040" cy="320040"/>
          </a:xfrm>
          <a:prstGeom prst="ellipse">
            <a:avLst/>
          </a:prstGeom>
          <a:solidFill>
            <a:srgbClr val="D4845A"/>
          </a:solidFill>
          <a:ln/>
        </p:spPr>
      </p:sp>
      <p:sp>
        <p:nvSpPr>
          <p:cNvPr id="11" name="Text 9"/>
          <p:cNvSpPr/>
          <p:nvPr/>
        </p:nvSpPr>
        <p:spPr>
          <a:xfrm>
            <a:off x="384048" y="1589913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1562481"/>
            <a:ext cx="7863840" cy="382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2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Wipe the top of the can with a clean damp cloth before opening to remove any dust or residue.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0040" y="2000250"/>
            <a:ext cx="8503920" cy="42862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384048" y="2064258"/>
            <a:ext cx="320040" cy="320040"/>
          </a:xfrm>
          <a:prstGeom prst="ellipse">
            <a:avLst/>
          </a:prstGeom>
          <a:solidFill>
            <a:srgbClr val="D4845A"/>
          </a:solidFill>
          <a:ln/>
        </p:spPr>
      </p:sp>
      <p:sp>
        <p:nvSpPr>
          <p:cNvPr id="15" name="Text 13"/>
          <p:cNvSpPr/>
          <p:nvPr/>
        </p:nvSpPr>
        <p:spPr>
          <a:xfrm>
            <a:off x="384048" y="206425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22960" y="2036826"/>
            <a:ext cx="7863840" cy="382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2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 manual can opener: place the cutting wheel on the outer edge of the lid, then squeeze the handle to grip and pierce the metal.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0040" y="2474595"/>
            <a:ext cx="8503920" cy="428625"/>
          </a:xfrm>
          <a:prstGeom prst="rect">
            <a:avLst/>
          </a:prstGeom>
          <a:solidFill>
            <a:srgbClr val="FAF3EE"/>
          </a:solidFill>
          <a:ln/>
        </p:spPr>
      </p:sp>
      <p:sp>
        <p:nvSpPr>
          <p:cNvPr id="18" name="Shape 16"/>
          <p:cNvSpPr/>
          <p:nvPr/>
        </p:nvSpPr>
        <p:spPr>
          <a:xfrm>
            <a:off x="384048" y="2538603"/>
            <a:ext cx="320040" cy="320040"/>
          </a:xfrm>
          <a:prstGeom prst="ellipse">
            <a:avLst/>
          </a:prstGeom>
          <a:solidFill>
            <a:srgbClr val="D4845A"/>
          </a:solidFill>
          <a:ln/>
        </p:spPr>
      </p:sp>
      <p:sp>
        <p:nvSpPr>
          <p:cNvPr id="19" name="Text 17"/>
          <p:cNvSpPr/>
          <p:nvPr/>
        </p:nvSpPr>
        <p:spPr>
          <a:xfrm>
            <a:off x="384048" y="2538603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22960" y="2511171"/>
            <a:ext cx="7863840" cy="382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2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the handle in a smooth clockwise direction, keeping steady pressure, working your way around the full circle of the lid.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20040" y="2948940"/>
            <a:ext cx="8503920" cy="42862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Shape 20"/>
          <p:cNvSpPr/>
          <p:nvPr/>
        </p:nvSpPr>
        <p:spPr>
          <a:xfrm>
            <a:off x="384048" y="3012948"/>
            <a:ext cx="320040" cy="320040"/>
          </a:xfrm>
          <a:prstGeom prst="ellipse">
            <a:avLst/>
          </a:prstGeom>
          <a:solidFill>
            <a:srgbClr val="D4845A"/>
          </a:solidFill>
          <a:ln/>
        </p:spPr>
      </p:sp>
      <p:sp>
        <p:nvSpPr>
          <p:cNvPr id="23" name="Text 21"/>
          <p:cNvSpPr/>
          <p:nvPr/>
        </p:nvSpPr>
        <p:spPr>
          <a:xfrm>
            <a:off x="384048" y="301294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22960" y="2985516"/>
            <a:ext cx="7863840" cy="382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2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just before completing the full circle so the lid remains attached on one side — this prevents the lid from falling into the food.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20040" y="3423285"/>
            <a:ext cx="8503920" cy="428625"/>
          </a:xfrm>
          <a:prstGeom prst="rect">
            <a:avLst/>
          </a:prstGeom>
          <a:solidFill>
            <a:srgbClr val="FAF3EE"/>
          </a:solidFill>
          <a:ln/>
        </p:spPr>
      </p:sp>
      <p:sp>
        <p:nvSpPr>
          <p:cNvPr id="26" name="Shape 24"/>
          <p:cNvSpPr/>
          <p:nvPr/>
        </p:nvSpPr>
        <p:spPr>
          <a:xfrm>
            <a:off x="384048" y="3487293"/>
            <a:ext cx="320040" cy="320040"/>
          </a:xfrm>
          <a:prstGeom prst="ellipse">
            <a:avLst/>
          </a:prstGeom>
          <a:solidFill>
            <a:srgbClr val="D4845A"/>
          </a:solidFill>
          <a:ln/>
        </p:spPr>
      </p:sp>
      <p:sp>
        <p:nvSpPr>
          <p:cNvPr id="27" name="Text 25"/>
          <p:cNvSpPr/>
          <p:nvPr/>
        </p:nvSpPr>
        <p:spPr>
          <a:xfrm>
            <a:off x="384048" y="3487293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6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22960" y="3459861"/>
            <a:ext cx="7863840" cy="382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2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fork or spoon to lift the lid open, folding it back carefully. The cut edge is very sharp — never touch it with bare fingers.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20040" y="3897630"/>
            <a:ext cx="8503920" cy="42862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Shape 28"/>
          <p:cNvSpPr/>
          <p:nvPr/>
        </p:nvSpPr>
        <p:spPr>
          <a:xfrm>
            <a:off x="384048" y="3961638"/>
            <a:ext cx="320040" cy="320040"/>
          </a:xfrm>
          <a:prstGeom prst="ellipse">
            <a:avLst/>
          </a:prstGeom>
          <a:solidFill>
            <a:srgbClr val="D4845A"/>
          </a:solidFill>
          <a:ln/>
        </p:spPr>
      </p:sp>
      <p:sp>
        <p:nvSpPr>
          <p:cNvPr id="31" name="Text 29"/>
          <p:cNvSpPr/>
          <p:nvPr/>
        </p:nvSpPr>
        <p:spPr>
          <a:xfrm>
            <a:off x="384048" y="396163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7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22960" y="3934206"/>
            <a:ext cx="7863840" cy="382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2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or spoon out the contents. If storing leftover canned food, transfer it to a glass or plastic container — never store food in an open tin.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320040" y="4371975"/>
            <a:ext cx="8503920" cy="428625"/>
          </a:xfrm>
          <a:prstGeom prst="rect">
            <a:avLst/>
          </a:prstGeom>
          <a:solidFill>
            <a:srgbClr val="FAF3EE"/>
          </a:solidFill>
          <a:ln/>
        </p:spPr>
      </p:sp>
      <p:sp>
        <p:nvSpPr>
          <p:cNvPr id="34" name="Shape 32"/>
          <p:cNvSpPr/>
          <p:nvPr/>
        </p:nvSpPr>
        <p:spPr>
          <a:xfrm>
            <a:off x="384048" y="4435983"/>
            <a:ext cx="320040" cy="320040"/>
          </a:xfrm>
          <a:prstGeom prst="ellipse">
            <a:avLst/>
          </a:prstGeom>
          <a:solidFill>
            <a:srgbClr val="D4845A"/>
          </a:solidFill>
          <a:ln/>
        </p:spPr>
      </p:sp>
      <p:sp>
        <p:nvSpPr>
          <p:cNvPr id="35" name="Text 33"/>
          <p:cNvSpPr/>
          <p:nvPr/>
        </p:nvSpPr>
        <p:spPr>
          <a:xfrm>
            <a:off x="384048" y="4435983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8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22960" y="4408551"/>
            <a:ext cx="7863840" cy="382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2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Rinse and dry the can opener after every use to prevent rust and bacterial buildup.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320040" y="4846320"/>
            <a:ext cx="8503920" cy="256032"/>
          </a:xfrm>
          <a:prstGeom prst="rect">
            <a:avLst/>
          </a:prstGeom>
          <a:solidFill>
            <a:srgbClr val="D4845A">
              <a:alpha val="70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457200" y="4864608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Avoid electric can openers if you are a beginner — manual ones give you more control and are easier to clean.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C181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5943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🥛  The Measuring Cup — Getting Quantities Right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492240" y="164592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i="1" dirty="0">
                <a:solidFill>
                  <a:srgbClr val="E8D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= consistent results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8503920" cy="42862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384048" y="1115568"/>
            <a:ext cx="320040" cy="320040"/>
          </a:xfrm>
          <a:prstGeom prst="ellipse">
            <a:avLst/>
          </a:prstGeom>
          <a:solidFill>
            <a:srgbClr val="4A7C59"/>
          </a:solidFill>
          <a:ln/>
        </p:spPr>
      </p:sp>
      <p:sp>
        <p:nvSpPr>
          <p:cNvPr id="7" name="Text 5"/>
          <p:cNvSpPr/>
          <p:nvPr/>
        </p:nvSpPr>
        <p:spPr>
          <a:xfrm>
            <a:off x="384048" y="111556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1088136"/>
            <a:ext cx="7863840" cy="382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2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Measuring cups come in sets: usually 1 cup, ½ cup, ¼ cup and sometimes ⅛ cup. Know which size you are using.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" y="1525905"/>
            <a:ext cx="8503920" cy="428625"/>
          </a:xfrm>
          <a:prstGeom prst="rect">
            <a:avLst/>
          </a:prstGeom>
          <a:solidFill>
            <a:srgbClr val="FAF3EE"/>
          </a:solidFill>
          <a:ln/>
        </p:spPr>
      </p:sp>
      <p:sp>
        <p:nvSpPr>
          <p:cNvPr id="10" name="Shape 8"/>
          <p:cNvSpPr/>
          <p:nvPr/>
        </p:nvSpPr>
        <p:spPr>
          <a:xfrm>
            <a:off x="384048" y="1589913"/>
            <a:ext cx="320040" cy="320040"/>
          </a:xfrm>
          <a:prstGeom prst="ellipse">
            <a:avLst/>
          </a:prstGeom>
          <a:solidFill>
            <a:srgbClr val="4A7C59"/>
          </a:solidFill>
          <a:ln/>
        </p:spPr>
      </p:sp>
      <p:sp>
        <p:nvSpPr>
          <p:cNvPr id="11" name="Text 9"/>
          <p:cNvSpPr/>
          <p:nvPr/>
        </p:nvSpPr>
        <p:spPr>
          <a:xfrm>
            <a:off x="384048" y="1589913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1562481"/>
            <a:ext cx="7863840" cy="382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2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liquid ingredients (water, milk, oil): pour the liquid into the cup and bend down to read the measurement at eye level — the liquid should sit exactly on the marked line.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0040" y="2000250"/>
            <a:ext cx="8503920" cy="42862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384048" y="2064258"/>
            <a:ext cx="320040" cy="320040"/>
          </a:xfrm>
          <a:prstGeom prst="ellipse">
            <a:avLst/>
          </a:prstGeom>
          <a:solidFill>
            <a:srgbClr val="4A7C59"/>
          </a:solidFill>
          <a:ln/>
        </p:spPr>
      </p:sp>
      <p:sp>
        <p:nvSpPr>
          <p:cNvPr id="15" name="Text 13"/>
          <p:cNvSpPr/>
          <p:nvPr/>
        </p:nvSpPr>
        <p:spPr>
          <a:xfrm>
            <a:off x="384048" y="206425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22960" y="2036826"/>
            <a:ext cx="7863840" cy="382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2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dry ingredients (flour, sugar): spoon the ingredient lightly into the cup. Do NOT scoop directly from the bag — this compacts the ingredient and gives you more than the recipe needs.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0040" y="2474595"/>
            <a:ext cx="8503920" cy="428625"/>
          </a:xfrm>
          <a:prstGeom prst="rect">
            <a:avLst/>
          </a:prstGeom>
          <a:solidFill>
            <a:srgbClr val="FAF3EE"/>
          </a:solidFill>
          <a:ln/>
        </p:spPr>
      </p:sp>
      <p:sp>
        <p:nvSpPr>
          <p:cNvPr id="18" name="Shape 16"/>
          <p:cNvSpPr/>
          <p:nvPr/>
        </p:nvSpPr>
        <p:spPr>
          <a:xfrm>
            <a:off x="384048" y="2538603"/>
            <a:ext cx="320040" cy="320040"/>
          </a:xfrm>
          <a:prstGeom prst="ellipse">
            <a:avLst/>
          </a:prstGeom>
          <a:solidFill>
            <a:srgbClr val="4A7C59"/>
          </a:solidFill>
          <a:ln/>
        </p:spPr>
      </p:sp>
      <p:sp>
        <p:nvSpPr>
          <p:cNvPr id="19" name="Text 17"/>
          <p:cNvSpPr/>
          <p:nvPr/>
        </p:nvSpPr>
        <p:spPr>
          <a:xfrm>
            <a:off x="384048" y="2538603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22960" y="2511171"/>
            <a:ext cx="7863840" cy="382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2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off dry ingredients by sweeping a flat knife or straight edge across the top of the cup to remove the excess.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20040" y="2948940"/>
            <a:ext cx="8503920" cy="42862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Shape 20"/>
          <p:cNvSpPr/>
          <p:nvPr/>
        </p:nvSpPr>
        <p:spPr>
          <a:xfrm>
            <a:off x="384048" y="3012948"/>
            <a:ext cx="320040" cy="320040"/>
          </a:xfrm>
          <a:prstGeom prst="ellipse">
            <a:avLst/>
          </a:prstGeom>
          <a:solidFill>
            <a:srgbClr val="4A7C59"/>
          </a:solidFill>
          <a:ln/>
        </p:spPr>
      </p:sp>
      <p:sp>
        <p:nvSpPr>
          <p:cNvPr id="23" name="Text 21"/>
          <p:cNvSpPr/>
          <p:nvPr/>
        </p:nvSpPr>
        <p:spPr>
          <a:xfrm>
            <a:off x="384048" y="301294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22960" y="2985516"/>
            <a:ext cx="7863840" cy="382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2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sticky liquids like honey over a bowl in case of drips. Lightly oil the cup first — the honey will slide out cleanly.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20040" y="3423285"/>
            <a:ext cx="8503920" cy="428625"/>
          </a:xfrm>
          <a:prstGeom prst="rect">
            <a:avLst/>
          </a:prstGeom>
          <a:solidFill>
            <a:srgbClr val="FAF3EE"/>
          </a:solidFill>
          <a:ln/>
        </p:spPr>
      </p:sp>
      <p:sp>
        <p:nvSpPr>
          <p:cNvPr id="26" name="Shape 24"/>
          <p:cNvSpPr/>
          <p:nvPr/>
        </p:nvSpPr>
        <p:spPr>
          <a:xfrm>
            <a:off x="384048" y="3487293"/>
            <a:ext cx="320040" cy="320040"/>
          </a:xfrm>
          <a:prstGeom prst="ellipse">
            <a:avLst/>
          </a:prstGeom>
          <a:solidFill>
            <a:srgbClr val="4A7C59"/>
          </a:solidFill>
          <a:ln/>
        </p:spPr>
      </p:sp>
      <p:sp>
        <p:nvSpPr>
          <p:cNvPr id="27" name="Text 25"/>
          <p:cNvSpPr/>
          <p:nvPr/>
        </p:nvSpPr>
        <p:spPr>
          <a:xfrm>
            <a:off x="384048" y="3487293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6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22960" y="3459861"/>
            <a:ext cx="7863840" cy="382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2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recipe says '1 cup of flour, sifted' — measure first, then sift. '1 cup of sifted flour' means sift first, then measure.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20040" y="3897630"/>
            <a:ext cx="8503920" cy="42862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Shape 28"/>
          <p:cNvSpPr/>
          <p:nvPr/>
        </p:nvSpPr>
        <p:spPr>
          <a:xfrm>
            <a:off x="384048" y="3961638"/>
            <a:ext cx="320040" cy="320040"/>
          </a:xfrm>
          <a:prstGeom prst="ellipse">
            <a:avLst/>
          </a:prstGeom>
          <a:solidFill>
            <a:srgbClr val="4A7C59"/>
          </a:solidFill>
          <a:ln/>
        </p:spPr>
      </p:sp>
      <p:sp>
        <p:nvSpPr>
          <p:cNvPr id="31" name="Text 29"/>
          <p:cNvSpPr/>
          <p:nvPr/>
        </p:nvSpPr>
        <p:spPr>
          <a:xfrm>
            <a:off x="384048" y="396163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7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22960" y="3934206"/>
            <a:ext cx="7863840" cy="382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2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measure over your mixing bowl — a spill could ruin your whole batter.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320040" y="4371975"/>
            <a:ext cx="8503920" cy="428625"/>
          </a:xfrm>
          <a:prstGeom prst="rect">
            <a:avLst/>
          </a:prstGeom>
          <a:solidFill>
            <a:srgbClr val="FAF3EE"/>
          </a:solidFill>
          <a:ln/>
        </p:spPr>
      </p:sp>
      <p:sp>
        <p:nvSpPr>
          <p:cNvPr id="34" name="Shape 32"/>
          <p:cNvSpPr/>
          <p:nvPr/>
        </p:nvSpPr>
        <p:spPr>
          <a:xfrm>
            <a:off x="384048" y="4435983"/>
            <a:ext cx="320040" cy="320040"/>
          </a:xfrm>
          <a:prstGeom prst="ellipse">
            <a:avLst/>
          </a:prstGeom>
          <a:solidFill>
            <a:srgbClr val="4A7C59"/>
          </a:solidFill>
          <a:ln/>
        </p:spPr>
      </p:sp>
      <p:sp>
        <p:nvSpPr>
          <p:cNvPr id="35" name="Text 33"/>
          <p:cNvSpPr/>
          <p:nvPr/>
        </p:nvSpPr>
        <p:spPr>
          <a:xfrm>
            <a:off x="384048" y="4435983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8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22960" y="4408551"/>
            <a:ext cx="7863840" cy="382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2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measuring, rinse the cup immediately before residue dries and becomes hard to clean.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320040" y="4846320"/>
            <a:ext cx="8503920" cy="256032"/>
          </a:xfrm>
          <a:prstGeom prst="rect">
            <a:avLst/>
          </a:prstGeom>
          <a:solidFill>
            <a:srgbClr val="4A7C59">
              <a:alpha val="70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457200" y="4864608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Baking is a science — even small measurement errors change texture and taste. Always measure carefully.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C181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5943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🥄  The Measuring Spoon — Precision for Small Quantities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492240" y="164592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i="1" dirty="0">
                <a:solidFill>
                  <a:srgbClr val="E8D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Essential for spices &amp; leavening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8503920" cy="42862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384048" y="1115568"/>
            <a:ext cx="320040" cy="320040"/>
          </a:xfrm>
          <a:prstGeom prst="ellipse">
            <a:avLst/>
          </a:prstGeom>
          <a:solidFill>
            <a:srgbClr val="D4845A"/>
          </a:solidFill>
          <a:ln/>
        </p:spPr>
      </p:sp>
      <p:sp>
        <p:nvSpPr>
          <p:cNvPr id="7" name="Text 5"/>
          <p:cNvSpPr/>
          <p:nvPr/>
        </p:nvSpPr>
        <p:spPr>
          <a:xfrm>
            <a:off x="384048" y="111556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1088136"/>
            <a:ext cx="7863840" cy="382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2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measuring spoon set includes: 1 tablespoon (tbsp), 1 teaspoon (tsp), ½ tsp, and ¼ tsp. Each has a specific purpose.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" y="1525905"/>
            <a:ext cx="8503920" cy="428625"/>
          </a:xfrm>
          <a:prstGeom prst="rect">
            <a:avLst/>
          </a:prstGeom>
          <a:solidFill>
            <a:srgbClr val="FAF3EE"/>
          </a:solidFill>
          <a:ln/>
        </p:spPr>
      </p:sp>
      <p:sp>
        <p:nvSpPr>
          <p:cNvPr id="10" name="Shape 8"/>
          <p:cNvSpPr/>
          <p:nvPr/>
        </p:nvSpPr>
        <p:spPr>
          <a:xfrm>
            <a:off x="384048" y="1589913"/>
            <a:ext cx="320040" cy="320040"/>
          </a:xfrm>
          <a:prstGeom prst="ellipse">
            <a:avLst/>
          </a:prstGeom>
          <a:solidFill>
            <a:srgbClr val="D4845A"/>
          </a:solidFill>
          <a:ln/>
        </p:spPr>
      </p:sp>
      <p:sp>
        <p:nvSpPr>
          <p:cNvPr id="11" name="Text 9"/>
          <p:cNvSpPr/>
          <p:nvPr/>
        </p:nvSpPr>
        <p:spPr>
          <a:xfrm>
            <a:off x="384048" y="1589913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1562481"/>
            <a:ext cx="7863840" cy="382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2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tablespoon = 3 teaspoons. This is important to remember when scaling recipes up or down.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0040" y="2000250"/>
            <a:ext cx="8503920" cy="42862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384048" y="2064258"/>
            <a:ext cx="320040" cy="320040"/>
          </a:xfrm>
          <a:prstGeom prst="ellipse">
            <a:avLst/>
          </a:prstGeom>
          <a:solidFill>
            <a:srgbClr val="D4845A"/>
          </a:solidFill>
          <a:ln/>
        </p:spPr>
      </p:sp>
      <p:sp>
        <p:nvSpPr>
          <p:cNvPr id="15" name="Text 13"/>
          <p:cNvSpPr/>
          <p:nvPr/>
        </p:nvSpPr>
        <p:spPr>
          <a:xfrm>
            <a:off x="384048" y="206425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22960" y="2036826"/>
            <a:ext cx="7863840" cy="382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2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dry ingredients (baking powder, spices, salt): fill the spoon, then level it off with the flat side of a knife. A heaped spoon is not the same as a level spoon.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0040" y="2474595"/>
            <a:ext cx="8503920" cy="428625"/>
          </a:xfrm>
          <a:prstGeom prst="rect">
            <a:avLst/>
          </a:prstGeom>
          <a:solidFill>
            <a:srgbClr val="FAF3EE"/>
          </a:solidFill>
          <a:ln/>
        </p:spPr>
      </p:sp>
      <p:sp>
        <p:nvSpPr>
          <p:cNvPr id="18" name="Shape 16"/>
          <p:cNvSpPr/>
          <p:nvPr/>
        </p:nvSpPr>
        <p:spPr>
          <a:xfrm>
            <a:off x="384048" y="2538603"/>
            <a:ext cx="320040" cy="320040"/>
          </a:xfrm>
          <a:prstGeom prst="ellipse">
            <a:avLst/>
          </a:prstGeom>
          <a:solidFill>
            <a:srgbClr val="D4845A"/>
          </a:solidFill>
          <a:ln/>
        </p:spPr>
      </p:sp>
      <p:sp>
        <p:nvSpPr>
          <p:cNvPr id="19" name="Text 17"/>
          <p:cNvSpPr/>
          <p:nvPr/>
        </p:nvSpPr>
        <p:spPr>
          <a:xfrm>
            <a:off x="384048" y="2538603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22960" y="2511171"/>
            <a:ext cx="7863840" cy="382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2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liquid ingredients (vanilla extract, oil): pour carefully to the brim of the spoon. Hold the spoon steady over your mixing bowl.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20040" y="2948940"/>
            <a:ext cx="8503920" cy="42862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Shape 20"/>
          <p:cNvSpPr/>
          <p:nvPr/>
        </p:nvSpPr>
        <p:spPr>
          <a:xfrm>
            <a:off x="384048" y="3012948"/>
            <a:ext cx="320040" cy="320040"/>
          </a:xfrm>
          <a:prstGeom prst="ellipse">
            <a:avLst/>
          </a:prstGeom>
          <a:solidFill>
            <a:srgbClr val="D4845A"/>
          </a:solidFill>
          <a:ln/>
        </p:spPr>
      </p:sp>
      <p:sp>
        <p:nvSpPr>
          <p:cNvPr id="23" name="Text 21"/>
          <p:cNvSpPr/>
          <p:nvPr/>
        </p:nvSpPr>
        <p:spPr>
          <a:xfrm>
            <a:off x="384048" y="301294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22960" y="2985516"/>
            <a:ext cx="7863840" cy="382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2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measure spices directly over a pot of hot food — steam from the pot can cause clumping and the spoon can slip, adding too much.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20040" y="3423285"/>
            <a:ext cx="8503920" cy="428625"/>
          </a:xfrm>
          <a:prstGeom prst="rect">
            <a:avLst/>
          </a:prstGeom>
          <a:solidFill>
            <a:srgbClr val="FAF3EE"/>
          </a:solidFill>
          <a:ln/>
        </p:spPr>
      </p:sp>
      <p:sp>
        <p:nvSpPr>
          <p:cNvPr id="26" name="Shape 24"/>
          <p:cNvSpPr/>
          <p:nvPr/>
        </p:nvSpPr>
        <p:spPr>
          <a:xfrm>
            <a:off x="384048" y="3487293"/>
            <a:ext cx="320040" cy="320040"/>
          </a:xfrm>
          <a:prstGeom prst="ellipse">
            <a:avLst/>
          </a:prstGeom>
          <a:solidFill>
            <a:srgbClr val="D4845A"/>
          </a:solidFill>
          <a:ln/>
        </p:spPr>
      </p:sp>
      <p:sp>
        <p:nvSpPr>
          <p:cNvPr id="27" name="Text 25"/>
          <p:cNvSpPr/>
          <p:nvPr/>
        </p:nvSpPr>
        <p:spPr>
          <a:xfrm>
            <a:off x="384048" y="3487293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6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22960" y="3459861"/>
            <a:ext cx="7863840" cy="382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2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measuring baking soda or baking powder, note that even a small extra amount can make baked goods taste bitter or rise unevenly.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20040" y="3897630"/>
            <a:ext cx="8503920" cy="42862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Shape 28"/>
          <p:cNvSpPr/>
          <p:nvPr/>
        </p:nvSpPr>
        <p:spPr>
          <a:xfrm>
            <a:off x="384048" y="3961638"/>
            <a:ext cx="320040" cy="320040"/>
          </a:xfrm>
          <a:prstGeom prst="ellipse">
            <a:avLst/>
          </a:prstGeom>
          <a:solidFill>
            <a:srgbClr val="D4845A"/>
          </a:solidFill>
          <a:ln/>
        </p:spPr>
      </p:sp>
      <p:sp>
        <p:nvSpPr>
          <p:cNvPr id="31" name="Text 29"/>
          <p:cNvSpPr/>
          <p:nvPr/>
        </p:nvSpPr>
        <p:spPr>
          <a:xfrm>
            <a:off x="384048" y="396163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7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22960" y="3934206"/>
            <a:ext cx="7863840" cy="382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2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use, wash spoons in warm soapy water and dry immediately — rust can develop on metal spoons left wet.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320040" y="4371975"/>
            <a:ext cx="8503920" cy="428625"/>
          </a:xfrm>
          <a:prstGeom prst="rect">
            <a:avLst/>
          </a:prstGeom>
          <a:solidFill>
            <a:srgbClr val="FAF3EE"/>
          </a:solidFill>
          <a:ln/>
        </p:spPr>
      </p:sp>
      <p:sp>
        <p:nvSpPr>
          <p:cNvPr id="34" name="Shape 32"/>
          <p:cNvSpPr/>
          <p:nvPr/>
        </p:nvSpPr>
        <p:spPr>
          <a:xfrm>
            <a:off x="384048" y="4435983"/>
            <a:ext cx="320040" cy="320040"/>
          </a:xfrm>
          <a:prstGeom prst="ellipse">
            <a:avLst/>
          </a:prstGeom>
          <a:solidFill>
            <a:srgbClr val="D4845A"/>
          </a:solidFill>
          <a:ln/>
        </p:spPr>
      </p:sp>
      <p:sp>
        <p:nvSpPr>
          <p:cNvPr id="35" name="Text 33"/>
          <p:cNvSpPr/>
          <p:nvPr/>
        </p:nvSpPr>
        <p:spPr>
          <a:xfrm>
            <a:off x="384048" y="4435983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8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22960" y="4408551"/>
            <a:ext cx="7863840" cy="382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2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your measuring spoons together on a ring or in a cup so you can find the right size quickly.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320040" y="4846320"/>
            <a:ext cx="8503920" cy="256032"/>
          </a:xfrm>
          <a:prstGeom prst="rect">
            <a:avLst/>
          </a:prstGeom>
          <a:solidFill>
            <a:srgbClr val="D4845A">
              <a:alpha val="70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457200" y="4864608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'A pinch' of salt = what you can pinch between your thumb and two fingers. It is roughly ⅛ of a teaspoon.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C181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5943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🥣  The Mixing Bowl — Your Workspace for Ingredients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492240" y="164592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i="1" dirty="0">
                <a:solidFill>
                  <a:srgbClr val="E8D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Foundational for cooking &amp; baking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8503920" cy="42862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384048" y="1115568"/>
            <a:ext cx="320040" cy="320040"/>
          </a:xfrm>
          <a:prstGeom prst="ellipse">
            <a:avLst/>
          </a:prstGeom>
          <a:solidFill>
            <a:srgbClr val="8B6355"/>
          </a:solidFill>
          <a:ln/>
        </p:spPr>
      </p:sp>
      <p:sp>
        <p:nvSpPr>
          <p:cNvPr id="7" name="Text 5"/>
          <p:cNvSpPr/>
          <p:nvPr/>
        </p:nvSpPr>
        <p:spPr>
          <a:xfrm>
            <a:off x="384048" y="111556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1088136"/>
            <a:ext cx="7863840" cy="382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2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a bowl large enough that your ingredients do not spill when stirring — when in doubt, use a bigger bowl.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" y="1525905"/>
            <a:ext cx="8503920" cy="428625"/>
          </a:xfrm>
          <a:prstGeom prst="rect">
            <a:avLst/>
          </a:prstGeom>
          <a:solidFill>
            <a:srgbClr val="FAF3EE"/>
          </a:solidFill>
          <a:ln/>
        </p:spPr>
      </p:sp>
      <p:sp>
        <p:nvSpPr>
          <p:cNvPr id="10" name="Shape 8"/>
          <p:cNvSpPr/>
          <p:nvPr/>
        </p:nvSpPr>
        <p:spPr>
          <a:xfrm>
            <a:off x="384048" y="1589913"/>
            <a:ext cx="320040" cy="320040"/>
          </a:xfrm>
          <a:prstGeom prst="ellipse">
            <a:avLst/>
          </a:prstGeom>
          <a:solidFill>
            <a:srgbClr val="8B6355"/>
          </a:solidFill>
          <a:ln/>
        </p:spPr>
      </p:sp>
      <p:sp>
        <p:nvSpPr>
          <p:cNvPr id="11" name="Text 9"/>
          <p:cNvSpPr/>
          <p:nvPr/>
        </p:nvSpPr>
        <p:spPr>
          <a:xfrm>
            <a:off x="384048" y="1589913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1562481"/>
            <a:ext cx="7863840" cy="382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2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baking, glass or metal bowls are best. Plastic can hold odours and grease residue that affect delicate flavours.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0040" y="2000250"/>
            <a:ext cx="8503920" cy="42862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384048" y="2064258"/>
            <a:ext cx="320040" cy="320040"/>
          </a:xfrm>
          <a:prstGeom prst="ellipse">
            <a:avLst/>
          </a:prstGeom>
          <a:solidFill>
            <a:srgbClr val="8B6355"/>
          </a:solidFill>
          <a:ln/>
        </p:spPr>
      </p:sp>
      <p:sp>
        <p:nvSpPr>
          <p:cNvPr id="15" name="Text 13"/>
          <p:cNvSpPr/>
          <p:nvPr/>
        </p:nvSpPr>
        <p:spPr>
          <a:xfrm>
            <a:off x="384048" y="206425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22960" y="2036826"/>
            <a:ext cx="7863840" cy="382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2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using for egg whites or cream, ensure the bowl is completely dry — even a drop of water or grease prevents egg whites from whipping properly.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0040" y="2474595"/>
            <a:ext cx="8503920" cy="428625"/>
          </a:xfrm>
          <a:prstGeom prst="rect">
            <a:avLst/>
          </a:prstGeom>
          <a:solidFill>
            <a:srgbClr val="FAF3EE"/>
          </a:solidFill>
          <a:ln/>
        </p:spPr>
      </p:sp>
      <p:sp>
        <p:nvSpPr>
          <p:cNvPr id="18" name="Shape 16"/>
          <p:cNvSpPr/>
          <p:nvPr/>
        </p:nvSpPr>
        <p:spPr>
          <a:xfrm>
            <a:off x="384048" y="2538603"/>
            <a:ext cx="320040" cy="320040"/>
          </a:xfrm>
          <a:prstGeom prst="ellipse">
            <a:avLst/>
          </a:prstGeom>
          <a:solidFill>
            <a:srgbClr val="8B6355"/>
          </a:solidFill>
          <a:ln/>
        </p:spPr>
      </p:sp>
      <p:sp>
        <p:nvSpPr>
          <p:cNvPr id="19" name="Text 17"/>
          <p:cNvSpPr/>
          <p:nvPr/>
        </p:nvSpPr>
        <p:spPr>
          <a:xfrm>
            <a:off x="384048" y="2538603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22960" y="2511171"/>
            <a:ext cx="7863840" cy="382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2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mixing, use one hand to hold the bowl stable and tilt it slightly towards you. Stir in a circular motion from the bottom up to incorporate all ingredients evenly.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20040" y="2948940"/>
            <a:ext cx="8503920" cy="42862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Shape 20"/>
          <p:cNvSpPr/>
          <p:nvPr/>
        </p:nvSpPr>
        <p:spPr>
          <a:xfrm>
            <a:off x="384048" y="3012948"/>
            <a:ext cx="320040" cy="320040"/>
          </a:xfrm>
          <a:prstGeom prst="ellipse">
            <a:avLst/>
          </a:prstGeom>
          <a:solidFill>
            <a:srgbClr val="8B6355"/>
          </a:solidFill>
          <a:ln/>
        </p:spPr>
      </p:sp>
      <p:sp>
        <p:nvSpPr>
          <p:cNvPr id="23" name="Text 21"/>
          <p:cNvSpPr/>
          <p:nvPr/>
        </p:nvSpPr>
        <p:spPr>
          <a:xfrm>
            <a:off x="384048" y="301294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22960" y="2985516"/>
            <a:ext cx="7863840" cy="382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2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combining wet and dry ingredients, make a well (hollow) in the centre of the dry ingredients, pour the wet ingredients into the well, then gradually stir from the centre outward.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20040" y="3423285"/>
            <a:ext cx="8503920" cy="428625"/>
          </a:xfrm>
          <a:prstGeom prst="rect">
            <a:avLst/>
          </a:prstGeom>
          <a:solidFill>
            <a:srgbClr val="FAF3EE"/>
          </a:solidFill>
          <a:ln/>
        </p:spPr>
      </p:sp>
      <p:sp>
        <p:nvSpPr>
          <p:cNvPr id="26" name="Shape 24"/>
          <p:cNvSpPr/>
          <p:nvPr/>
        </p:nvSpPr>
        <p:spPr>
          <a:xfrm>
            <a:off x="384048" y="3487293"/>
            <a:ext cx="320040" cy="320040"/>
          </a:xfrm>
          <a:prstGeom prst="ellipse">
            <a:avLst/>
          </a:prstGeom>
          <a:solidFill>
            <a:srgbClr val="8B6355"/>
          </a:solidFill>
          <a:ln/>
        </p:spPr>
      </p:sp>
      <p:sp>
        <p:nvSpPr>
          <p:cNvPr id="27" name="Text 25"/>
          <p:cNvSpPr/>
          <p:nvPr/>
        </p:nvSpPr>
        <p:spPr>
          <a:xfrm>
            <a:off x="384048" y="3487293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6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22960" y="3459861"/>
            <a:ext cx="7863840" cy="382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2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flexible rubber spatula to scrape the sides and bottom of the bowl regularly so no ingredient is left unmixed.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20040" y="3897630"/>
            <a:ext cx="8503920" cy="42862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Shape 28"/>
          <p:cNvSpPr/>
          <p:nvPr/>
        </p:nvSpPr>
        <p:spPr>
          <a:xfrm>
            <a:off x="384048" y="3961638"/>
            <a:ext cx="320040" cy="320040"/>
          </a:xfrm>
          <a:prstGeom prst="ellipse">
            <a:avLst/>
          </a:prstGeom>
          <a:solidFill>
            <a:srgbClr val="8B6355"/>
          </a:solidFill>
          <a:ln/>
        </p:spPr>
      </p:sp>
      <p:sp>
        <p:nvSpPr>
          <p:cNvPr id="31" name="Text 29"/>
          <p:cNvSpPr/>
          <p:nvPr/>
        </p:nvSpPr>
        <p:spPr>
          <a:xfrm>
            <a:off x="384048" y="396163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7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22960" y="3934206"/>
            <a:ext cx="7863840" cy="382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2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tossing salad dressing: add dressing to the bowl, place salad on top, and use two large spoons or your hands (washed) to lift and turn from the bottom.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320040" y="4371975"/>
            <a:ext cx="8503920" cy="428625"/>
          </a:xfrm>
          <a:prstGeom prst="rect">
            <a:avLst/>
          </a:prstGeom>
          <a:solidFill>
            <a:srgbClr val="FAF3EE"/>
          </a:solidFill>
          <a:ln/>
        </p:spPr>
      </p:sp>
      <p:sp>
        <p:nvSpPr>
          <p:cNvPr id="34" name="Shape 32"/>
          <p:cNvSpPr/>
          <p:nvPr/>
        </p:nvSpPr>
        <p:spPr>
          <a:xfrm>
            <a:off x="384048" y="4435983"/>
            <a:ext cx="320040" cy="320040"/>
          </a:xfrm>
          <a:prstGeom prst="ellipse">
            <a:avLst/>
          </a:prstGeom>
          <a:solidFill>
            <a:srgbClr val="8B6355"/>
          </a:solidFill>
          <a:ln/>
        </p:spPr>
      </p:sp>
      <p:sp>
        <p:nvSpPr>
          <p:cNvPr id="35" name="Text 33"/>
          <p:cNvSpPr/>
          <p:nvPr/>
        </p:nvSpPr>
        <p:spPr>
          <a:xfrm>
            <a:off x="384048" y="4435983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8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22960" y="4408551"/>
            <a:ext cx="7863840" cy="382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2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use, soak the bowl in warm water immediately — dried batter is far harder to clean. Wash with soapy water and dry well before storing.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320040" y="4846320"/>
            <a:ext cx="8503920" cy="256032"/>
          </a:xfrm>
          <a:prstGeom prst="rect">
            <a:avLst/>
          </a:prstGeom>
          <a:solidFill>
            <a:srgbClr val="8B6355">
              <a:alpha val="70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457200" y="4864608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Never stack mixing bowls while wet — moisture trapped between them encourages mould and rust on metal bowls.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C181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5943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🌾  The Whisk — Incorporating Air &amp; Combining Ingredients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492240" y="164592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i="1" dirty="0">
                <a:solidFill>
                  <a:srgbClr val="E8D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smooth, airy textures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8503920" cy="42862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384048" y="1115568"/>
            <a:ext cx="320040" cy="320040"/>
          </a:xfrm>
          <a:prstGeom prst="ellipse">
            <a:avLst/>
          </a:prstGeom>
          <a:solidFill>
            <a:srgbClr val="D4845A"/>
          </a:solidFill>
          <a:ln/>
        </p:spPr>
      </p:sp>
      <p:sp>
        <p:nvSpPr>
          <p:cNvPr id="7" name="Text 5"/>
          <p:cNvSpPr/>
          <p:nvPr/>
        </p:nvSpPr>
        <p:spPr>
          <a:xfrm>
            <a:off x="384048" y="111556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1088136"/>
            <a:ext cx="7863840" cy="382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2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the whisk handle between your palm and fingers — not gripped in a fist. Relaxed wrist movement gives you more speed and control.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" y="1525905"/>
            <a:ext cx="8503920" cy="428625"/>
          </a:xfrm>
          <a:prstGeom prst="rect">
            <a:avLst/>
          </a:prstGeom>
          <a:solidFill>
            <a:srgbClr val="FAF3EE"/>
          </a:solidFill>
          <a:ln/>
        </p:spPr>
      </p:sp>
      <p:sp>
        <p:nvSpPr>
          <p:cNvPr id="10" name="Shape 8"/>
          <p:cNvSpPr/>
          <p:nvPr/>
        </p:nvSpPr>
        <p:spPr>
          <a:xfrm>
            <a:off x="384048" y="1589913"/>
            <a:ext cx="320040" cy="320040"/>
          </a:xfrm>
          <a:prstGeom prst="ellipse">
            <a:avLst/>
          </a:prstGeom>
          <a:solidFill>
            <a:srgbClr val="D4845A"/>
          </a:solidFill>
          <a:ln/>
        </p:spPr>
      </p:sp>
      <p:sp>
        <p:nvSpPr>
          <p:cNvPr id="11" name="Text 9"/>
          <p:cNvSpPr/>
          <p:nvPr/>
        </p:nvSpPr>
        <p:spPr>
          <a:xfrm>
            <a:off x="384048" y="1589913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1562481"/>
            <a:ext cx="7863840" cy="382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2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combining eggs: crack eggs into the bowl, then whisk using a circular motion while lifting the whisk slightly each stroke to incorporate air.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0040" y="2000250"/>
            <a:ext cx="8503920" cy="42862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384048" y="2064258"/>
            <a:ext cx="320040" cy="320040"/>
          </a:xfrm>
          <a:prstGeom prst="ellipse">
            <a:avLst/>
          </a:prstGeom>
          <a:solidFill>
            <a:srgbClr val="D4845A"/>
          </a:solidFill>
          <a:ln/>
        </p:spPr>
      </p:sp>
      <p:sp>
        <p:nvSpPr>
          <p:cNvPr id="15" name="Text 13"/>
          <p:cNvSpPr/>
          <p:nvPr/>
        </p:nvSpPr>
        <p:spPr>
          <a:xfrm>
            <a:off x="384048" y="206425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22960" y="2036826"/>
            <a:ext cx="7863840" cy="382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2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whisk salad dressing: put oil and vinegar (or lemon juice) in the bowl. Whisk vigorously in one direction — the two liquids will emulsify into a smooth dressing.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0040" y="2474595"/>
            <a:ext cx="8503920" cy="428625"/>
          </a:xfrm>
          <a:prstGeom prst="rect">
            <a:avLst/>
          </a:prstGeom>
          <a:solidFill>
            <a:srgbClr val="FAF3EE"/>
          </a:solidFill>
          <a:ln/>
        </p:spPr>
      </p:sp>
      <p:sp>
        <p:nvSpPr>
          <p:cNvPr id="18" name="Shape 16"/>
          <p:cNvSpPr/>
          <p:nvPr/>
        </p:nvSpPr>
        <p:spPr>
          <a:xfrm>
            <a:off x="384048" y="2538603"/>
            <a:ext cx="320040" cy="320040"/>
          </a:xfrm>
          <a:prstGeom prst="ellipse">
            <a:avLst/>
          </a:prstGeom>
          <a:solidFill>
            <a:srgbClr val="D4845A"/>
          </a:solidFill>
          <a:ln/>
        </p:spPr>
      </p:sp>
      <p:sp>
        <p:nvSpPr>
          <p:cNvPr id="19" name="Text 17"/>
          <p:cNvSpPr/>
          <p:nvPr/>
        </p:nvSpPr>
        <p:spPr>
          <a:xfrm>
            <a:off x="384048" y="2538603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22960" y="2511171"/>
            <a:ext cx="7863840" cy="382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2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batter: whisk dry ingredients together first (this removes lumps). Then whisk wet ingredients separately. Finally combine the two.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20040" y="2948940"/>
            <a:ext cx="8503920" cy="42862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Shape 20"/>
          <p:cNvSpPr/>
          <p:nvPr/>
        </p:nvSpPr>
        <p:spPr>
          <a:xfrm>
            <a:off x="384048" y="3012948"/>
            <a:ext cx="320040" cy="320040"/>
          </a:xfrm>
          <a:prstGeom prst="ellipse">
            <a:avLst/>
          </a:prstGeom>
          <a:solidFill>
            <a:srgbClr val="D4845A"/>
          </a:solidFill>
          <a:ln/>
        </p:spPr>
      </p:sp>
      <p:sp>
        <p:nvSpPr>
          <p:cNvPr id="23" name="Text 21"/>
          <p:cNvSpPr/>
          <p:nvPr/>
        </p:nvSpPr>
        <p:spPr>
          <a:xfrm>
            <a:off x="384048" y="301294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22960" y="2985516"/>
            <a:ext cx="7863840" cy="382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2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check if a batter is smooth: lift the whisk — batter should fall in a smooth ribbon, not in lumpy drops.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20040" y="3423285"/>
            <a:ext cx="8503920" cy="428625"/>
          </a:xfrm>
          <a:prstGeom prst="rect">
            <a:avLst/>
          </a:prstGeom>
          <a:solidFill>
            <a:srgbClr val="FAF3EE"/>
          </a:solidFill>
          <a:ln/>
        </p:spPr>
      </p:sp>
      <p:sp>
        <p:nvSpPr>
          <p:cNvPr id="26" name="Shape 24"/>
          <p:cNvSpPr/>
          <p:nvPr/>
        </p:nvSpPr>
        <p:spPr>
          <a:xfrm>
            <a:off x="384048" y="3487293"/>
            <a:ext cx="320040" cy="320040"/>
          </a:xfrm>
          <a:prstGeom prst="ellipse">
            <a:avLst/>
          </a:prstGeom>
          <a:solidFill>
            <a:srgbClr val="D4845A"/>
          </a:solidFill>
          <a:ln/>
        </p:spPr>
      </p:sp>
      <p:sp>
        <p:nvSpPr>
          <p:cNvPr id="27" name="Text 25"/>
          <p:cNvSpPr/>
          <p:nvPr/>
        </p:nvSpPr>
        <p:spPr>
          <a:xfrm>
            <a:off x="384048" y="3487293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6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22960" y="3459861"/>
            <a:ext cx="7863840" cy="382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2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whipping cream or egg whites by hand: use a large bowl, keep it chilled, and whisk quickly in a consistent circular motion. This takes 3–7 minutes of steady effort.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20040" y="3897630"/>
            <a:ext cx="8503920" cy="42862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Shape 28"/>
          <p:cNvSpPr/>
          <p:nvPr/>
        </p:nvSpPr>
        <p:spPr>
          <a:xfrm>
            <a:off x="384048" y="3961638"/>
            <a:ext cx="320040" cy="320040"/>
          </a:xfrm>
          <a:prstGeom prst="ellipse">
            <a:avLst/>
          </a:prstGeom>
          <a:solidFill>
            <a:srgbClr val="D4845A"/>
          </a:solidFill>
          <a:ln/>
        </p:spPr>
      </p:sp>
      <p:sp>
        <p:nvSpPr>
          <p:cNvPr id="31" name="Text 29"/>
          <p:cNvSpPr/>
          <p:nvPr/>
        </p:nvSpPr>
        <p:spPr>
          <a:xfrm>
            <a:off x="384048" y="396163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7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22960" y="3934206"/>
            <a:ext cx="7863840" cy="382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2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whisk is also great for stirring sauces on the stove to prevent lumps — keep it moving in a figure-eight pattern over medium heat.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320040" y="4371975"/>
            <a:ext cx="8503920" cy="428625"/>
          </a:xfrm>
          <a:prstGeom prst="rect">
            <a:avLst/>
          </a:prstGeom>
          <a:solidFill>
            <a:srgbClr val="FAF3EE"/>
          </a:solidFill>
          <a:ln/>
        </p:spPr>
      </p:sp>
      <p:sp>
        <p:nvSpPr>
          <p:cNvPr id="34" name="Shape 32"/>
          <p:cNvSpPr/>
          <p:nvPr/>
        </p:nvSpPr>
        <p:spPr>
          <a:xfrm>
            <a:off x="384048" y="4435983"/>
            <a:ext cx="320040" cy="320040"/>
          </a:xfrm>
          <a:prstGeom prst="ellipse">
            <a:avLst/>
          </a:prstGeom>
          <a:solidFill>
            <a:srgbClr val="D4845A"/>
          </a:solidFill>
          <a:ln/>
        </p:spPr>
      </p:sp>
      <p:sp>
        <p:nvSpPr>
          <p:cNvPr id="35" name="Text 33"/>
          <p:cNvSpPr/>
          <p:nvPr/>
        </p:nvSpPr>
        <p:spPr>
          <a:xfrm>
            <a:off x="384048" y="4435983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8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22960" y="4408551"/>
            <a:ext cx="7863840" cy="382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2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use, rinse immediately under warm running water. Push the wires apart gently to remove any batter trapped inside, then wash with soapy water.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320040" y="4846320"/>
            <a:ext cx="8503920" cy="256032"/>
          </a:xfrm>
          <a:prstGeom prst="rect">
            <a:avLst/>
          </a:prstGeom>
          <a:solidFill>
            <a:srgbClr val="D4845A">
              <a:alpha val="70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457200" y="4864608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If your arm gets tired when hand-whisking, switch to your other hand — the technique is the same and it splits the effort.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C181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5943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🥕  The Vegetable Peeler — Fast, Safe Peeling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492240" y="164592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i="1" dirty="0">
                <a:solidFill>
                  <a:srgbClr val="E8D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Saves time &amp; reduces waste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8503920" cy="42862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384048" y="1115568"/>
            <a:ext cx="320040" cy="320040"/>
          </a:xfrm>
          <a:prstGeom prst="ellipse">
            <a:avLst/>
          </a:prstGeom>
          <a:solidFill>
            <a:srgbClr val="4A7C59"/>
          </a:solidFill>
          <a:ln/>
        </p:spPr>
      </p:sp>
      <p:sp>
        <p:nvSpPr>
          <p:cNvPr id="7" name="Text 5"/>
          <p:cNvSpPr/>
          <p:nvPr/>
        </p:nvSpPr>
        <p:spPr>
          <a:xfrm>
            <a:off x="384048" y="111556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1088136"/>
            <a:ext cx="7863840" cy="382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2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the vegetable firmly in your non-dominant hand. Curl your fingers away from the direction of peeling.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" y="1525905"/>
            <a:ext cx="8503920" cy="428625"/>
          </a:xfrm>
          <a:prstGeom prst="rect">
            <a:avLst/>
          </a:prstGeom>
          <a:solidFill>
            <a:srgbClr val="FAF3EE"/>
          </a:solidFill>
          <a:ln/>
        </p:spPr>
      </p:sp>
      <p:sp>
        <p:nvSpPr>
          <p:cNvPr id="10" name="Shape 8"/>
          <p:cNvSpPr/>
          <p:nvPr/>
        </p:nvSpPr>
        <p:spPr>
          <a:xfrm>
            <a:off x="384048" y="1589913"/>
            <a:ext cx="320040" cy="320040"/>
          </a:xfrm>
          <a:prstGeom prst="ellipse">
            <a:avLst/>
          </a:prstGeom>
          <a:solidFill>
            <a:srgbClr val="4A7C59"/>
          </a:solidFill>
          <a:ln/>
        </p:spPr>
      </p:sp>
      <p:sp>
        <p:nvSpPr>
          <p:cNvPr id="11" name="Text 9"/>
          <p:cNvSpPr/>
          <p:nvPr/>
        </p:nvSpPr>
        <p:spPr>
          <a:xfrm>
            <a:off x="384048" y="1589913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1562481"/>
            <a:ext cx="7863840" cy="382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2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the peeler in your dominant hand with your thumb on the back of the handle for stability.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0040" y="2000250"/>
            <a:ext cx="8503920" cy="42862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384048" y="2064258"/>
            <a:ext cx="320040" cy="320040"/>
          </a:xfrm>
          <a:prstGeom prst="ellipse">
            <a:avLst/>
          </a:prstGeom>
          <a:solidFill>
            <a:srgbClr val="4A7C59"/>
          </a:solidFill>
          <a:ln/>
        </p:spPr>
      </p:sp>
      <p:sp>
        <p:nvSpPr>
          <p:cNvPr id="15" name="Text 13"/>
          <p:cNvSpPr/>
          <p:nvPr/>
        </p:nvSpPr>
        <p:spPr>
          <a:xfrm>
            <a:off x="384048" y="206425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22960" y="2036826"/>
            <a:ext cx="7863840" cy="382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2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Peel away from your body in long, downward strokes, turning the vegetable slightly after each stroke to peel all sides evenly.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0040" y="2474595"/>
            <a:ext cx="8503920" cy="428625"/>
          </a:xfrm>
          <a:prstGeom prst="rect">
            <a:avLst/>
          </a:prstGeom>
          <a:solidFill>
            <a:srgbClr val="FAF3EE"/>
          </a:solidFill>
          <a:ln/>
        </p:spPr>
      </p:sp>
      <p:sp>
        <p:nvSpPr>
          <p:cNvPr id="18" name="Shape 16"/>
          <p:cNvSpPr/>
          <p:nvPr/>
        </p:nvSpPr>
        <p:spPr>
          <a:xfrm>
            <a:off x="384048" y="2538603"/>
            <a:ext cx="320040" cy="320040"/>
          </a:xfrm>
          <a:prstGeom prst="ellipse">
            <a:avLst/>
          </a:prstGeom>
          <a:solidFill>
            <a:srgbClr val="4A7C59"/>
          </a:solidFill>
          <a:ln/>
        </p:spPr>
      </p:sp>
      <p:sp>
        <p:nvSpPr>
          <p:cNvPr id="19" name="Text 17"/>
          <p:cNvSpPr/>
          <p:nvPr/>
        </p:nvSpPr>
        <p:spPr>
          <a:xfrm>
            <a:off x="384048" y="2538603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22960" y="2511171"/>
            <a:ext cx="7863840" cy="382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2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potatoes: peel over a bowl or bag to catch the skins. Start from one end and work to the other in even strips.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20040" y="2948940"/>
            <a:ext cx="8503920" cy="42862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Shape 20"/>
          <p:cNvSpPr/>
          <p:nvPr/>
        </p:nvSpPr>
        <p:spPr>
          <a:xfrm>
            <a:off x="384048" y="3012948"/>
            <a:ext cx="320040" cy="320040"/>
          </a:xfrm>
          <a:prstGeom prst="ellipse">
            <a:avLst/>
          </a:prstGeom>
          <a:solidFill>
            <a:srgbClr val="4A7C59"/>
          </a:solidFill>
          <a:ln/>
        </p:spPr>
      </p:sp>
      <p:sp>
        <p:nvSpPr>
          <p:cNvPr id="23" name="Text 21"/>
          <p:cNvSpPr/>
          <p:nvPr/>
        </p:nvSpPr>
        <p:spPr>
          <a:xfrm>
            <a:off x="384048" y="301294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22960" y="2985516"/>
            <a:ext cx="7863840" cy="382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2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carrots: hold the thick end and peel from the middle down, then flip and peel from the middle to the other end. This gives you more control.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20040" y="3423285"/>
            <a:ext cx="8503920" cy="428625"/>
          </a:xfrm>
          <a:prstGeom prst="rect">
            <a:avLst/>
          </a:prstGeom>
          <a:solidFill>
            <a:srgbClr val="FAF3EE"/>
          </a:solidFill>
          <a:ln/>
        </p:spPr>
      </p:sp>
      <p:sp>
        <p:nvSpPr>
          <p:cNvPr id="26" name="Shape 24"/>
          <p:cNvSpPr/>
          <p:nvPr/>
        </p:nvSpPr>
        <p:spPr>
          <a:xfrm>
            <a:off x="384048" y="3487293"/>
            <a:ext cx="320040" cy="320040"/>
          </a:xfrm>
          <a:prstGeom prst="ellipse">
            <a:avLst/>
          </a:prstGeom>
          <a:solidFill>
            <a:srgbClr val="4A7C59"/>
          </a:solidFill>
          <a:ln/>
        </p:spPr>
      </p:sp>
      <p:sp>
        <p:nvSpPr>
          <p:cNvPr id="27" name="Text 25"/>
          <p:cNvSpPr/>
          <p:nvPr/>
        </p:nvSpPr>
        <p:spPr>
          <a:xfrm>
            <a:off x="384048" y="3487293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6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22960" y="3459861"/>
            <a:ext cx="7863840" cy="382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2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yam or plantain: a peeler can be used on firm yam, but for tough, thick-skinned plantain it is easier to use a knife — cut off both ends, score down the sides, and peel off the skin.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20040" y="3897630"/>
            <a:ext cx="8503920" cy="42862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Shape 28"/>
          <p:cNvSpPr/>
          <p:nvPr/>
        </p:nvSpPr>
        <p:spPr>
          <a:xfrm>
            <a:off x="384048" y="3961638"/>
            <a:ext cx="320040" cy="320040"/>
          </a:xfrm>
          <a:prstGeom prst="ellipse">
            <a:avLst/>
          </a:prstGeom>
          <a:solidFill>
            <a:srgbClr val="4A7C59"/>
          </a:solidFill>
          <a:ln/>
        </p:spPr>
      </p:sp>
      <p:sp>
        <p:nvSpPr>
          <p:cNvPr id="31" name="Text 29"/>
          <p:cNvSpPr/>
          <p:nvPr/>
        </p:nvSpPr>
        <p:spPr>
          <a:xfrm>
            <a:off x="384048" y="396163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7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22960" y="3934206"/>
            <a:ext cx="7863840" cy="382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2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any dark spots or 'eyes' (on potatoes) after peeling using the pointed tip of the peeler.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320040" y="4371975"/>
            <a:ext cx="8503920" cy="428625"/>
          </a:xfrm>
          <a:prstGeom prst="rect">
            <a:avLst/>
          </a:prstGeom>
          <a:solidFill>
            <a:srgbClr val="FAF3EE"/>
          </a:solidFill>
          <a:ln/>
        </p:spPr>
      </p:sp>
      <p:sp>
        <p:nvSpPr>
          <p:cNvPr id="34" name="Shape 32"/>
          <p:cNvSpPr/>
          <p:nvPr/>
        </p:nvSpPr>
        <p:spPr>
          <a:xfrm>
            <a:off x="384048" y="4435983"/>
            <a:ext cx="320040" cy="320040"/>
          </a:xfrm>
          <a:prstGeom prst="ellipse">
            <a:avLst/>
          </a:prstGeom>
          <a:solidFill>
            <a:srgbClr val="4A7C59"/>
          </a:solidFill>
          <a:ln/>
        </p:spPr>
      </p:sp>
      <p:sp>
        <p:nvSpPr>
          <p:cNvPr id="35" name="Text 33"/>
          <p:cNvSpPr/>
          <p:nvPr/>
        </p:nvSpPr>
        <p:spPr>
          <a:xfrm>
            <a:off x="384048" y="4435983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8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22960" y="4408551"/>
            <a:ext cx="7863840" cy="382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2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Wash and dry the peeler after each use — food residue left in the blade slot ferments and smells. Store dry to prevent rusting.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320040" y="4846320"/>
            <a:ext cx="8503920" cy="256032"/>
          </a:xfrm>
          <a:prstGeom prst="rect">
            <a:avLst/>
          </a:prstGeom>
          <a:solidFill>
            <a:srgbClr val="4A7C59">
              <a:alpha val="70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457200" y="4864608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Thin peeling wastes less food. The nutrients in most vegetables are highest just under the skin — peel as lightly as possible.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C1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D4845A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0" y="2743200"/>
            <a:ext cx="4572000" cy="3657600"/>
          </a:xfrm>
          <a:prstGeom prst="ellipse">
            <a:avLst/>
          </a:prstGeom>
          <a:solidFill>
            <a:srgbClr val="D4845A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 ARE READY TO BEGIN!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94360" y="10972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8D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these 8 tools and you have everything you need to start cooking and baking with confidence.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94360" y="1691640"/>
            <a:ext cx="3840480" cy="685800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73736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🔪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261872" y="17373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Chef Knife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261872" y="202996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D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Cutting &amp; chopping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09160" y="1691640"/>
            <a:ext cx="3840480" cy="685800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4800600" y="173736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🪵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376672" y="17373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Cutting Board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376672" y="202996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D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chopping surface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94360" y="2468880"/>
            <a:ext cx="3840480" cy="685800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251460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🥫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261872" y="2514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 Opener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261872" y="280720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D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 canned goods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09160" y="2468880"/>
            <a:ext cx="3840480" cy="685800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4800600" y="251460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🥛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5376672" y="2514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Measuring Cup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376672" y="280720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D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 &amp; dry volumes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94360" y="3246120"/>
            <a:ext cx="3840480" cy="685800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685800" y="329184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🥄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1261872" y="32918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Measuring Spoon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261872" y="358444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D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Precise small amounts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709160" y="3246120"/>
            <a:ext cx="3840480" cy="685800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4800600" y="329184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🥣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5376672" y="32918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Mixing Bowl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376672" y="358444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D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Combining ingredients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94360" y="4023360"/>
            <a:ext cx="3840480" cy="685800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685800" y="406908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🌾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1261872" y="4069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Whisk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1261872" y="436168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D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Aerating &amp; smoothing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709160" y="4023360"/>
            <a:ext cx="3840480" cy="685800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4800600" y="406908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🥕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5376672" y="4069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Veg Peeler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376672" y="436168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D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safe peeling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94360" y="477316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EAW Baking &amp; Cooking Essentials · Instructor: Ebere Irrechukwu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2026-03-02T09:57:20Z</dcterms:created>
  <dcterms:modified xsi:type="dcterms:W3CDTF">2026-03-02T09:57:20Z</dcterms:modified>
</cp:coreProperties>
</file>